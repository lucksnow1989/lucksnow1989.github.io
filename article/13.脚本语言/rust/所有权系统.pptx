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3" r:id="rId6"/>
    <p:sldId id="264" r:id="rId7"/>
    <p:sldId id="271" r:id="rId8"/>
    <p:sldId id="265" r:id="rId9"/>
    <p:sldId id="266" r:id="rId10"/>
    <p:sldId id="267" r:id="rId11"/>
    <p:sldId id="268" r:id="rId12"/>
    <p:sldId id="269" r:id="rId13"/>
    <p:sldId id="270" r:id="rId14"/>
    <p:sldId id="262" r:id="rId15"/>
    <p:sldId id="26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9"/>
        <p:guide pos="38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所有权系统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Rust</a:t>
            </a:r>
            <a:r>
              <a:rPr lang="zh-CN" altLang="en-US"/>
              <a:t>内存管理</a:t>
            </a:r>
            <a:r>
              <a:rPr lang="zh-CN" altLang="en-US"/>
              <a:t>的精髓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垃圾回收的几种方式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301750" y="2000885"/>
            <a:ext cx="2317750" cy="31997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/>
              <a:t>纯手动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058035" y="3073400"/>
            <a:ext cx="804545" cy="45021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2058035" y="3803650"/>
            <a:ext cx="804545" cy="45021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C++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4244340" y="2000885"/>
            <a:ext cx="2977515" cy="31997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/>
              <a:t>全自动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560570" y="2698750"/>
            <a:ext cx="1022985" cy="45021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Java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4560570" y="3429000"/>
            <a:ext cx="1023620" cy="45021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Python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4560570" y="4159250"/>
            <a:ext cx="1023620" cy="45021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Go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7631430" y="2000885"/>
            <a:ext cx="3945890" cy="319976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/>
              <a:t>船新版本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834630" y="2705100"/>
            <a:ext cx="1022985" cy="45021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编译期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834630" y="4191635"/>
            <a:ext cx="1022985" cy="45021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运行时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781540" y="3471545"/>
            <a:ext cx="1501140" cy="45021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所有权系统</a:t>
            </a:r>
            <a:endParaRPr lang="zh-CN" altLang="en-US"/>
          </a:p>
        </p:txBody>
      </p:sp>
      <p:cxnSp>
        <p:nvCxnSpPr>
          <p:cNvPr id="15" name="直接箭头连接符 14"/>
          <p:cNvCxnSpPr>
            <a:stCxn id="12" idx="3"/>
            <a:endCxn id="14" idx="1"/>
          </p:cNvCxnSpPr>
          <p:nvPr/>
        </p:nvCxnSpPr>
        <p:spPr>
          <a:xfrm>
            <a:off x="8857615" y="2930525"/>
            <a:ext cx="923925" cy="766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967470" y="3155315"/>
            <a:ext cx="9004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规则检查</a:t>
            </a:r>
            <a:endParaRPr lang="zh-CN" altLang="en-US" sz="1200" b="1"/>
          </a:p>
        </p:txBody>
      </p:sp>
      <p:cxnSp>
        <p:nvCxnSpPr>
          <p:cNvPr id="17" name="直接箭头连接符 16"/>
          <p:cNvCxnSpPr>
            <a:stCxn id="13" idx="3"/>
            <a:endCxn id="14" idx="1"/>
          </p:cNvCxnSpPr>
          <p:nvPr/>
        </p:nvCxnSpPr>
        <p:spPr>
          <a:xfrm flipV="1">
            <a:off x="8857615" y="3696970"/>
            <a:ext cx="923925" cy="720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8967470" y="3962400"/>
            <a:ext cx="900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管理内存</a:t>
            </a:r>
            <a:endParaRPr lang="zh-CN" altLang="en-US" sz="1200" b="1"/>
          </a:p>
          <a:p>
            <a:r>
              <a:rPr lang="zh-CN" altLang="en-US" sz="1200" b="1"/>
              <a:t>用完就删</a:t>
            </a:r>
            <a:endParaRPr lang="zh-CN" altLang="en-US" sz="1200" b="1"/>
          </a:p>
        </p:txBody>
      </p:sp>
      <p:sp>
        <p:nvSpPr>
          <p:cNvPr id="19" name="矩形 18"/>
          <p:cNvSpPr/>
          <p:nvPr/>
        </p:nvSpPr>
        <p:spPr>
          <a:xfrm>
            <a:off x="6103620" y="3380105"/>
            <a:ext cx="907415" cy="5422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垃圾</a:t>
            </a:r>
            <a:endParaRPr lang="zh-CN" altLang="en-US"/>
          </a:p>
          <a:p>
            <a:pPr algn="ctr"/>
            <a:r>
              <a:rPr lang="zh-CN" altLang="en-US"/>
              <a:t>回收器</a:t>
            </a:r>
            <a:endParaRPr lang="zh-CN" altLang="en-US"/>
          </a:p>
        </p:txBody>
      </p:sp>
      <p:cxnSp>
        <p:nvCxnSpPr>
          <p:cNvPr id="20" name="直接箭头连接符 19"/>
          <p:cNvCxnSpPr>
            <a:stCxn id="8" idx="3"/>
            <a:endCxn id="19" idx="0"/>
          </p:cNvCxnSpPr>
          <p:nvPr/>
        </p:nvCxnSpPr>
        <p:spPr>
          <a:xfrm>
            <a:off x="5583555" y="2924175"/>
            <a:ext cx="974090" cy="45593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9" idx="3"/>
            <a:endCxn id="19" idx="1"/>
          </p:cNvCxnSpPr>
          <p:nvPr/>
        </p:nvCxnSpPr>
        <p:spPr>
          <a:xfrm flipV="1">
            <a:off x="5584190" y="3651250"/>
            <a:ext cx="519430" cy="317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0" idx="3"/>
            <a:endCxn id="19" idx="2"/>
          </p:cNvCxnSpPr>
          <p:nvPr/>
        </p:nvCxnSpPr>
        <p:spPr>
          <a:xfrm flipV="1">
            <a:off x="5584190" y="3922395"/>
            <a:ext cx="973455" cy="46228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147310" y="4990465"/>
            <a:ext cx="1171575" cy="393065"/>
          </a:xfrm>
          <a:prstGeom prst="rect">
            <a:avLst/>
          </a:prstGeom>
        </p:spPr>
        <p:style>
          <a:lnRef idx="2">
            <a:schemeClr val="lt1"/>
          </a:lnRef>
          <a:fillRef idx="1">
            <a:prstClr val="black"/>
          </a:fillRef>
          <a:effectRef idx="1">
            <a:prstClr val="black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GC</a:t>
            </a:r>
            <a:r>
              <a:rPr lang="zh-CN" altLang="en-US"/>
              <a:t>停顿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874520" y="4990465"/>
            <a:ext cx="1171575" cy="393065"/>
          </a:xfrm>
          <a:prstGeom prst="rect">
            <a:avLst/>
          </a:prstGeom>
        </p:spPr>
        <p:style>
          <a:lnRef idx="2">
            <a:schemeClr val="lt1"/>
          </a:lnRef>
          <a:fillRef idx="1">
            <a:prstClr val="black"/>
          </a:fillRef>
          <a:effectRef idx="1">
            <a:prstClr val="black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心智负担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所有权的三个核心规则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1. Rust </a:t>
            </a:r>
            <a:r>
              <a:rPr lang="zh-CN" altLang="en-US"/>
              <a:t>中的每一个值都有一个</a:t>
            </a:r>
            <a:r>
              <a:rPr lang="en-US" altLang="zh-CN"/>
              <a:t> 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所有者（</a:t>
            </a: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owner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值在任一时刻有且只有一个所有者。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当所有者（变量）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离开作用域</a:t>
            </a:r>
            <a:r>
              <a:rPr lang="zh-CN" altLang="en-US"/>
              <a:t>，这个值将被</a:t>
            </a: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丢弃</a:t>
            </a:r>
            <a:r>
              <a:rPr lang="zh-CN" altLang="en-US"/>
              <a:t>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230" y="3586480"/>
            <a:ext cx="5422265" cy="12179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理解</a:t>
            </a:r>
            <a:r>
              <a:rPr lang="en-US" altLang="zh-CN">
                <a:sym typeface="+mn-ea"/>
              </a:rPr>
              <a:t>stack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heap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900430" y="2297430"/>
          <a:ext cx="1924685" cy="315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4685"/>
              </a:tblGrid>
              <a:tr h="39433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let b = 5</a:t>
                      </a:r>
                      <a:endParaRPr lang="en-US" altLang="zh-CN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let a = </a:t>
                      </a:r>
                      <a:r>
                        <a:rPr lang="zh-CN" altLang="en-US" sz="1800">
                          <a:sym typeface="+mn-ea"/>
                        </a:rPr>
                        <a:t>指针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00430" y="5602605"/>
            <a:ext cx="1924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栈</a:t>
            </a:r>
            <a:r>
              <a:rPr lang="en-US" altLang="zh-CN" sz="3200"/>
              <a:t>(LIFO)</a:t>
            </a:r>
            <a:endParaRPr lang="en-US" altLang="zh-CN" sz="3200"/>
          </a:p>
        </p:txBody>
      </p:sp>
      <p:sp>
        <p:nvSpPr>
          <p:cNvPr id="6" name="矩形 5"/>
          <p:cNvSpPr/>
          <p:nvPr/>
        </p:nvSpPr>
        <p:spPr>
          <a:xfrm>
            <a:off x="5577840" y="2192655"/>
            <a:ext cx="5765800" cy="32600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195310" y="5602605"/>
            <a:ext cx="8623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堆</a:t>
            </a:r>
            <a:endParaRPr lang="zh-CN" altLang="en-US" sz="3200"/>
          </a:p>
        </p:txBody>
      </p:sp>
      <p:sp>
        <p:nvSpPr>
          <p:cNvPr id="8" name="矩形 7"/>
          <p:cNvSpPr/>
          <p:nvPr/>
        </p:nvSpPr>
        <p:spPr>
          <a:xfrm>
            <a:off x="3432810" y="1445260"/>
            <a:ext cx="1715770" cy="469265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内存分配器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190615" y="2498725"/>
            <a:ext cx="1609725" cy="4406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变长数据</a:t>
            </a:r>
            <a:endParaRPr lang="zh-CN" altLang="en-US"/>
          </a:p>
        </p:txBody>
      </p:sp>
      <p:cxnSp>
        <p:nvCxnSpPr>
          <p:cNvPr id="10" name="直接箭头连接符 9"/>
          <p:cNvCxnSpPr>
            <a:stCxn id="8" idx="3"/>
            <a:endCxn id="9" idx="0"/>
          </p:cNvCxnSpPr>
          <p:nvPr/>
        </p:nvCxnSpPr>
        <p:spPr>
          <a:xfrm>
            <a:off x="5148580" y="1680210"/>
            <a:ext cx="1847215" cy="81851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894070" y="1713865"/>
            <a:ext cx="852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alloc</a:t>
            </a:r>
            <a:endParaRPr lang="en-US" altLang="zh-CN"/>
          </a:p>
        </p:txBody>
      </p:sp>
      <p:cxnSp>
        <p:nvCxnSpPr>
          <p:cNvPr id="12" name="直接箭头连接符 11"/>
          <p:cNvCxnSpPr>
            <a:stCxn id="8" idx="2"/>
          </p:cNvCxnSpPr>
          <p:nvPr/>
        </p:nvCxnSpPr>
        <p:spPr>
          <a:xfrm flipH="1">
            <a:off x="2800350" y="1914525"/>
            <a:ext cx="1490345" cy="3352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231515" y="3926205"/>
            <a:ext cx="1282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返回指针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Copy(</a:t>
            </a:r>
            <a:r>
              <a:rPr lang="zh-CN" altLang="en-US">
                <a:sym typeface="+mn-ea"/>
              </a:rPr>
              <a:t>针对栈内存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Move(</a:t>
            </a:r>
            <a:r>
              <a:rPr lang="zh-CN" altLang="en-US">
                <a:sym typeface="+mn-ea"/>
              </a:rPr>
              <a:t>针对堆内存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0430" y="1426845"/>
            <a:ext cx="10366375" cy="4759325"/>
          </a:xfrm>
        </p:spPr>
        <p:txBody>
          <a:bodyPr/>
          <a:p>
            <a:r>
              <a:rPr lang="zh-CN" altLang="en-US">
                <a:sym typeface="+mn-ea"/>
              </a:rPr>
              <a:t>本质都是复制，基本数据复制数据本身，堆数据复制指针，只是</a:t>
            </a:r>
            <a:r>
              <a:rPr lang="en-US" altLang="zh-CN">
                <a:sym typeface="+mn-ea"/>
              </a:rPr>
              <a:t>Rust</a:t>
            </a:r>
            <a:r>
              <a:rPr lang="zh-CN" altLang="en-US">
                <a:sym typeface="+mn-ea"/>
              </a:rPr>
              <a:t>认为，为了避免</a:t>
            </a:r>
            <a:r>
              <a:rPr lang="en-US" altLang="zh-CN">
                <a:sym typeface="+mn-ea"/>
              </a:rPr>
              <a:t>double free </a:t>
            </a:r>
            <a:r>
              <a:rPr lang="zh-CN" altLang="en-US">
                <a:sym typeface="+mn-ea"/>
              </a:rPr>
              <a:t>错误，指针一旦被复制，原变量就失效，因此无需删除原变量指向的空间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455930" y="2298065"/>
          <a:ext cx="2736215" cy="315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6215"/>
              </a:tblGrid>
              <a:tr h="39433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let s2 = s1</a:t>
                      </a:r>
                      <a:endParaRPr lang="en-US" altLang="zh-CN" sz="1400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let s1 = String::from(“world”)</a:t>
                      </a:r>
                      <a:endParaRPr lang="en-US" altLang="zh-CN" sz="1400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let b = a</a:t>
                      </a:r>
                      <a:endParaRPr lang="en-US" altLang="zh-CN" sz="1400"/>
                    </a:p>
                  </a:txBody>
                  <a:tcPr/>
                </a:tc>
              </a:tr>
              <a:tr h="3943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let a = 10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00430" y="5602605"/>
            <a:ext cx="1924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栈</a:t>
            </a:r>
            <a:r>
              <a:rPr lang="en-US" altLang="zh-CN" sz="3200"/>
              <a:t>(LIFO)</a:t>
            </a:r>
            <a:endParaRPr lang="en-US" altLang="zh-CN" sz="3200"/>
          </a:p>
        </p:txBody>
      </p:sp>
      <p:sp>
        <p:nvSpPr>
          <p:cNvPr id="6" name="任意多边形 5"/>
          <p:cNvSpPr/>
          <p:nvPr/>
        </p:nvSpPr>
        <p:spPr>
          <a:xfrm>
            <a:off x="2762250" y="4806950"/>
            <a:ext cx="622300" cy="483235"/>
          </a:xfrm>
          <a:custGeom>
            <a:avLst/>
            <a:gdLst>
              <a:gd name="connisteX0" fmla="*/ 105410 w 622300"/>
              <a:gd name="connsiteY0" fmla="*/ 451061 h 483487"/>
              <a:gd name="connisteX1" fmla="*/ 172085 w 622300"/>
              <a:gd name="connsiteY1" fmla="*/ 440901 h 483487"/>
              <a:gd name="connisteX2" fmla="*/ 239395 w 622300"/>
              <a:gd name="connsiteY2" fmla="*/ 460586 h 483487"/>
              <a:gd name="connisteX3" fmla="*/ 316230 w 622300"/>
              <a:gd name="connsiteY3" fmla="*/ 470111 h 483487"/>
              <a:gd name="connisteX4" fmla="*/ 382905 w 622300"/>
              <a:gd name="connsiteY4" fmla="*/ 479636 h 483487"/>
              <a:gd name="connisteX5" fmla="*/ 450215 w 622300"/>
              <a:gd name="connsiteY5" fmla="*/ 479636 h 483487"/>
              <a:gd name="connisteX6" fmla="*/ 516890 w 622300"/>
              <a:gd name="connsiteY6" fmla="*/ 440901 h 483487"/>
              <a:gd name="connisteX7" fmla="*/ 565150 w 622300"/>
              <a:gd name="connsiteY7" fmla="*/ 364701 h 483487"/>
              <a:gd name="connisteX8" fmla="*/ 603250 w 622300"/>
              <a:gd name="connsiteY8" fmla="*/ 287866 h 483487"/>
              <a:gd name="connisteX9" fmla="*/ 622300 w 622300"/>
              <a:gd name="connsiteY9" fmla="*/ 201506 h 483487"/>
              <a:gd name="connisteX10" fmla="*/ 603250 w 622300"/>
              <a:gd name="connsiteY10" fmla="*/ 134831 h 483487"/>
              <a:gd name="connisteX11" fmla="*/ 536575 w 622300"/>
              <a:gd name="connsiteY11" fmla="*/ 86571 h 483487"/>
              <a:gd name="connisteX12" fmla="*/ 469265 w 622300"/>
              <a:gd name="connsiteY12" fmla="*/ 57996 h 483487"/>
              <a:gd name="connisteX13" fmla="*/ 401955 w 622300"/>
              <a:gd name="connsiteY13" fmla="*/ 29421 h 483487"/>
              <a:gd name="connisteX14" fmla="*/ 335280 w 622300"/>
              <a:gd name="connsiteY14" fmla="*/ 19896 h 483487"/>
              <a:gd name="connisteX15" fmla="*/ 267970 w 622300"/>
              <a:gd name="connsiteY15" fmla="*/ 19896 h 483487"/>
              <a:gd name="connisteX16" fmla="*/ 201295 w 622300"/>
              <a:gd name="connsiteY16" fmla="*/ 10371 h 483487"/>
              <a:gd name="connisteX17" fmla="*/ 133985 w 622300"/>
              <a:gd name="connsiteY17" fmla="*/ 846 h 483487"/>
              <a:gd name="connisteX18" fmla="*/ 66675 w 622300"/>
              <a:gd name="connsiteY18" fmla="*/ 846 h 483487"/>
              <a:gd name="connisteX19" fmla="*/ 0 w 622300"/>
              <a:gd name="connsiteY19" fmla="*/ 846 h 48348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</a:cxnLst>
            <a:rect l="l" t="t" r="r" b="b"/>
            <a:pathLst>
              <a:path w="622300" h="483488">
                <a:moveTo>
                  <a:pt x="105410" y="451062"/>
                </a:moveTo>
                <a:cubicBezTo>
                  <a:pt x="117475" y="448522"/>
                  <a:pt x="145415" y="438997"/>
                  <a:pt x="172085" y="440902"/>
                </a:cubicBezTo>
                <a:cubicBezTo>
                  <a:pt x="198755" y="442807"/>
                  <a:pt x="210820" y="454872"/>
                  <a:pt x="239395" y="460587"/>
                </a:cubicBezTo>
                <a:cubicBezTo>
                  <a:pt x="267970" y="466302"/>
                  <a:pt x="287655" y="466302"/>
                  <a:pt x="316230" y="470112"/>
                </a:cubicBezTo>
                <a:cubicBezTo>
                  <a:pt x="344805" y="473922"/>
                  <a:pt x="356235" y="477732"/>
                  <a:pt x="382905" y="479637"/>
                </a:cubicBezTo>
                <a:cubicBezTo>
                  <a:pt x="409575" y="481542"/>
                  <a:pt x="423545" y="487257"/>
                  <a:pt x="450215" y="479637"/>
                </a:cubicBezTo>
                <a:cubicBezTo>
                  <a:pt x="476885" y="472017"/>
                  <a:pt x="494030" y="463762"/>
                  <a:pt x="516890" y="440902"/>
                </a:cubicBezTo>
                <a:cubicBezTo>
                  <a:pt x="539750" y="418042"/>
                  <a:pt x="548005" y="395182"/>
                  <a:pt x="565150" y="364702"/>
                </a:cubicBezTo>
                <a:cubicBezTo>
                  <a:pt x="582295" y="334222"/>
                  <a:pt x="591820" y="320252"/>
                  <a:pt x="603250" y="287867"/>
                </a:cubicBezTo>
                <a:cubicBezTo>
                  <a:pt x="614680" y="255482"/>
                  <a:pt x="622300" y="231987"/>
                  <a:pt x="622300" y="201507"/>
                </a:cubicBezTo>
                <a:cubicBezTo>
                  <a:pt x="622300" y="171027"/>
                  <a:pt x="620395" y="157692"/>
                  <a:pt x="603250" y="134832"/>
                </a:cubicBezTo>
                <a:cubicBezTo>
                  <a:pt x="586105" y="111972"/>
                  <a:pt x="563245" y="101812"/>
                  <a:pt x="536575" y="86572"/>
                </a:cubicBezTo>
                <a:cubicBezTo>
                  <a:pt x="509905" y="71332"/>
                  <a:pt x="495935" y="69427"/>
                  <a:pt x="469265" y="57997"/>
                </a:cubicBezTo>
                <a:cubicBezTo>
                  <a:pt x="442595" y="46567"/>
                  <a:pt x="428625" y="37042"/>
                  <a:pt x="401955" y="29422"/>
                </a:cubicBezTo>
                <a:cubicBezTo>
                  <a:pt x="375285" y="21802"/>
                  <a:pt x="361950" y="21802"/>
                  <a:pt x="335280" y="19897"/>
                </a:cubicBezTo>
                <a:cubicBezTo>
                  <a:pt x="308610" y="17992"/>
                  <a:pt x="294640" y="21802"/>
                  <a:pt x="267970" y="19897"/>
                </a:cubicBezTo>
                <a:cubicBezTo>
                  <a:pt x="241300" y="17992"/>
                  <a:pt x="227965" y="14182"/>
                  <a:pt x="201295" y="10372"/>
                </a:cubicBezTo>
                <a:cubicBezTo>
                  <a:pt x="174625" y="6562"/>
                  <a:pt x="160655" y="2752"/>
                  <a:pt x="133985" y="847"/>
                </a:cubicBezTo>
                <a:cubicBezTo>
                  <a:pt x="107315" y="-1058"/>
                  <a:pt x="93345" y="847"/>
                  <a:pt x="66675" y="847"/>
                </a:cubicBezTo>
                <a:cubicBezTo>
                  <a:pt x="40005" y="847"/>
                  <a:pt x="12065" y="847"/>
                  <a:pt x="0" y="847"/>
                </a:cubicBezTo>
              </a:path>
            </a:pathLst>
          </a:cu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2733675" y="4730750"/>
            <a:ext cx="133985" cy="143510"/>
          </a:xfrm>
          <a:custGeom>
            <a:avLst/>
            <a:gdLst>
              <a:gd name="connisteX0" fmla="*/ 134236 w 134236"/>
              <a:gd name="connsiteY0" fmla="*/ 0 h 143510"/>
              <a:gd name="connisteX1" fmla="*/ 66926 w 134236"/>
              <a:gd name="connsiteY1" fmla="*/ 38100 h 143510"/>
              <a:gd name="connisteX2" fmla="*/ 251 w 134236"/>
              <a:gd name="connsiteY2" fmla="*/ 76835 h 143510"/>
              <a:gd name="connisteX3" fmla="*/ 47876 w 134236"/>
              <a:gd name="connsiteY3" fmla="*/ 143510 h 1435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134236" h="143510">
                <a:moveTo>
                  <a:pt x="134236" y="0"/>
                </a:moveTo>
                <a:cubicBezTo>
                  <a:pt x="122171" y="6985"/>
                  <a:pt x="93596" y="22860"/>
                  <a:pt x="66926" y="38100"/>
                </a:cubicBezTo>
                <a:cubicBezTo>
                  <a:pt x="40256" y="53340"/>
                  <a:pt x="4061" y="55880"/>
                  <a:pt x="251" y="76835"/>
                </a:cubicBezTo>
                <a:cubicBezTo>
                  <a:pt x="-3559" y="97790"/>
                  <a:pt x="37081" y="130810"/>
                  <a:pt x="47876" y="143510"/>
                </a:cubicBezTo>
              </a:path>
            </a:pathLst>
          </a:cu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020695" y="5290185"/>
            <a:ext cx="938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copy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5811520" y="2192655"/>
            <a:ext cx="5765800" cy="32600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854190" y="5518150"/>
            <a:ext cx="8623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堆</a:t>
            </a:r>
            <a:endParaRPr lang="zh-CN" altLang="en-US" sz="3200"/>
          </a:p>
        </p:txBody>
      </p:sp>
      <p:sp>
        <p:nvSpPr>
          <p:cNvPr id="11" name="矩形 10"/>
          <p:cNvSpPr/>
          <p:nvPr/>
        </p:nvSpPr>
        <p:spPr>
          <a:xfrm>
            <a:off x="6296025" y="4433570"/>
            <a:ext cx="862965" cy="44069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world</a:t>
            </a:r>
            <a:endParaRPr lang="en-US" altLang="zh-CN"/>
          </a:p>
        </p:txBody>
      </p:sp>
      <p:cxnSp>
        <p:nvCxnSpPr>
          <p:cNvPr id="12" name="直接箭头连接符 11"/>
          <p:cNvCxnSpPr>
            <a:stCxn id="11" idx="1"/>
          </p:cNvCxnSpPr>
          <p:nvPr/>
        </p:nvCxnSpPr>
        <p:spPr>
          <a:xfrm flipH="1" flipV="1">
            <a:off x="3068955" y="4472305"/>
            <a:ext cx="3227070" cy="18161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11" idx="1"/>
          </p:cNvCxnSpPr>
          <p:nvPr/>
        </p:nvCxnSpPr>
        <p:spPr>
          <a:xfrm flipH="1" flipV="1">
            <a:off x="3078480" y="4107815"/>
            <a:ext cx="3217545" cy="54610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799205" y="3846195"/>
            <a:ext cx="938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move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3921125" y="4362450"/>
            <a:ext cx="497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3383915" y="4614545"/>
            <a:ext cx="21710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二次释放（</a:t>
            </a:r>
            <a:r>
              <a:rPr lang="en-US" altLang="zh-CN" sz="1200">
                <a:solidFill>
                  <a:srgbClr val="FF0000"/>
                </a:solidFill>
              </a:rPr>
              <a:t>double free</a:t>
            </a:r>
            <a:r>
              <a:rPr lang="zh-CN" altLang="en-US" sz="1200">
                <a:solidFill>
                  <a:srgbClr val="FF0000"/>
                </a:solidFill>
              </a:rPr>
              <a:t>）错误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192145" y="6166485"/>
            <a:ext cx="4419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Rust</a:t>
            </a:r>
            <a:r>
              <a:rPr lang="zh-CN" altLang="en-US">
                <a:sym typeface="+mn-ea"/>
              </a:rPr>
              <a:t>是一个用栈内存管理堆内存的设计</a:t>
            </a:r>
            <a:endParaRPr lang="zh-CN" altLang="en-US"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510" y="2192655"/>
            <a:ext cx="4131310" cy="9423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510" y="3464560"/>
            <a:ext cx="4617720" cy="1409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思考为什么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9560" y="1731645"/>
            <a:ext cx="5337175" cy="9975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560" y="3147060"/>
            <a:ext cx="5210175" cy="10585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所有权与函数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080" y="1845945"/>
            <a:ext cx="7063740" cy="40462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用返回值转移所有权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835" y="1515745"/>
            <a:ext cx="7147560" cy="50520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引用与借用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115" y="1739265"/>
            <a:ext cx="7193280" cy="2019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15" y="3758565"/>
            <a:ext cx="6302375" cy="26104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246620" y="3974465"/>
            <a:ext cx="42233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引用结束时并不会丢弃指向的值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我们将创建一个引用的行为称为</a:t>
            </a:r>
            <a:r>
              <a:rPr lang="en-US" altLang="zh-CN"/>
              <a:t> </a:t>
            </a:r>
            <a:r>
              <a:rPr lang="zh-CN" altLang="en-US" b="1"/>
              <a:t>借用（</a:t>
            </a:r>
            <a:r>
              <a:rPr lang="en-US" altLang="zh-CN" b="1"/>
              <a:t>borrowing</a:t>
            </a:r>
            <a:r>
              <a:rPr lang="zh-CN" altLang="en-US" b="1"/>
              <a:t>）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借用默认不可变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可变引用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535" y="1630045"/>
            <a:ext cx="7193280" cy="17221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79145" y="3429000"/>
            <a:ext cx="737489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可变引用有一个</a:t>
            </a:r>
            <a:r>
              <a:rPr lang="zh-CN" altLang="en-US" b="1"/>
              <a:t>很大的限制</a:t>
            </a:r>
            <a:r>
              <a:rPr lang="zh-CN" altLang="en-US"/>
              <a:t>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可变引用和不可变引用不能共存。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多个不可变引用可以共存。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同一时间只能有一个可变引用。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可变引用的作用域结束后，可以创建新的引用。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这些尝试创建两个</a:t>
            </a:r>
            <a:r>
              <a:rPr lang="en-US" altLang="zh-CN"/>
              <a:t> s </a:t>
            </a:r>
            <a:r>
              <a:rPr lang="zh-CN" altLang="en-US"/>
              <a:t>的可变引用的代码会失败：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" y="5403215"/>
            <a:ext cx="7086600" cy="11658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数据竞争（</a:t>
            </a:r>
            <a:r>
              <a:rPr lang="en-US" altLang="zh-CN"/>
              <a:t>data race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8185" y="1889125"/>
            <a:ext cx="6850380" cy="13182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185" y="3658235"/>
            <a:ext cx="7033260" cy="16992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0540" y="1889125"/>
            <a:ext cx="39363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它可由这三个行为造成：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两个或更多指针同时访问同一数据。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至少有一个指针被用来写入数据。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没有同步数据访问的机制。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8330" y="3585845"/>
            <a:ext cx="2892425" cy="1648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accent3"/>
                </a:solidFill>
              </a:rPr>
              <a:t>数据竞争问题</a:t>
            </a:r>
            <a:endParaRPr lang="zh-CN" altLang="en-US" b="1">
              <a:solidFill>
                <a:schemeClr val="accent3"/>
              </a:solidFill>
            </a:endParaRPr>
          </a:p>
          <a:p>
            <a:pPr algn="ctr"/>
            <a:endParaRPr lang="zh-CN" altLang="en-US"/>
          </a:p>
          <a:p>
            <a:pPr algn="ctr"/>
            <a:r>
              <a:rPr lang="zh-CN" altLang="en-US"/>
              <a:t>读读无锁</a:t>
            </a:r>
            <a:endParaRPr lang="zh-CN" altLang="en-US"/>
          </a:p>
          <a:p>
            <a:pPr algn="ctr"/>
            <a:r>
              <a:rPr lang="zh-CN" altLang="en-US"/>
              <a:t>读写有锁</a:t>
            </a:r>
            <a:endParaRPr lang="zh-CN" altLang="en-US"/>
          </a:p>
          <a:p>
            <a:pPr algn="ctr"/>
            <a:r>
              <a:rPr lang="zh-CN" altLang="en-US"/>
              <a:t>写写有锁</a:t>
            </a:r>
            <a:endParaRPr lang="zh-CN" altLang="en-US"/>
          </a:p>
          <a:p>
            <a:pPr algn="ctr"/>
            <a:r>
              <a:rPr lang="zh-CN" altLang="en-US"/>
              <a:t>写读有锁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60525" y="5573395"/>
            <a:ext cx="6292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Rust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在编译期就会让数据竞争报错！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悬垂引用（</a:t>
            </a:r>
            <a:r>
              <a:rPr lang="en-US" altLang="zh-CN"/>
              <a:t>Dangling References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41705" y="1503045"/>
            <a:ext cx="91859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在具有指针的语言中，很容易通过</a:t>
            </a:r>
            <a:r>
              <a:rPr lang="zh-CN" altLang="en-US" b="1"/>
              <a:t>释放内存</a:t>
            </a:r>
            <a:r>
              <a:rPr lang="zh-CN" altLang="en-US"/>
              <a:t>时</a:t>
            </a:r>
            <a:r>
              <a:rPr lang="zh-CN" altLang="en-US" b="1"/>
              <a:t>保留</a:t>
            </a:r>
            <a:r>
              <a:rPr lang="zh-CN" altLang="en-US"/>
              <a:t>指向</a:t>
            </a:r>
            <a:r>
              <a:rPr lang="zh-CN" altLang="en-US" b="1"/>
              <a:t>它的指针</a:t>
            </a:r>
            <a:r>
              <a:rPr lang="zh-CN" altLang="en-US"/>
              <a:t>而错误地生成一个</a:t>
            </a:r>
            <a:r>
              <a:rPr lang="en-US" altLang="zh-CN"/>
              <a:t> </a:t>
            </a:r>
            <a:r>
              <a:rPr lang="zh-CN" altLang="en-US" b="1"/>
              <a:t>悬垂指针（</a:t>
            </a:r>
            <a:r>
              <a:rPr lang="en-US" altLang="zh-CN" b="1"/>
              <a:t>dangling pointer</a:t>
            </a:r>
            <a:r>
              <a:rPr lang="zh-CN" altLang="en-US" b="1"/>
              <a:t>）</a:t>
            </a:r>
            <a:r>
              <a:rPr lang="zh-CN" altLang="en-US"/>
              <a:t>，所谓悬垂指针是其指向的内存可能已经被分配给其它持有者。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65" y="2423795"/>
            <a:ext cx="7193280" cy="17754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565" y="4323080"/>
            <a:ext cx="7185660" cy="13106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565" y="5757545"/>
            <a:ext cx="7124700" cy="9906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借用核心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在任意给定时间，要么</a:t>
            </a:r>
            <a:r>
              <a:rPr lang="en-US" altLang="zh-CN"/>
              <a:t> </a:t>
            </a:r>
            <a:r>
              <a:rPr lang="zh-CN" altLang="en-US"/>
              <a:t>只能有一个可变引用，要么</a:t>
            </a:r>
            <a:r>
              <a:rPr lang="en-US" altLang="zh-CN"/>
              <a:t> </a:t>
            </a:r>
            <a:r>
              <a:rPr lang="zh-CN" altLang="en-US"/>
              <a:t>只能有多个不可变引用。</a:t>
            </a:r>
            <a:endParaRPr lang="zh-CN" altLang="en-US"/>
          </a:p>
          <a:p>
            <a:r>
              <a:rPr lang="zh-CN" altLang="en-US"/>
              <a:t>引用必须总是有效的。</a:t>
            </a:r>
            <a:endParaRPr lang="zh-CN" altLang="en-US"/>
          </a:p>
          <a:p>
            <a:pPr marL="0" indent="0">
              <a:buNone/>
            </a:pPr>
            <a:r>
              <a:rPr lang="en-US" altLang="zh-CN">
                <a:sym typeface="+mn-ea"/>
              </a:rPr>
              <a:t>Rust</a:t>
            </a:r>
            <a:r>
              <a:rPr lang="zh-CN" altLang="en-US">
                <a:sym typeface="+mn-ea"/>
              </a:rPr>
              <a:t>是一个用栈内存管理堆内存的设计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endParaRPr lang="zh-CN" altLang="en-US"/>
          </a:p>
          <a:p>
            <a:r>
              <a:rPr lang="zh-CN" altLang="en-US"/>
              <a:t>所以：用</a:t>
            </a:r>
            <a:r>
              <a:rPr lang="en-US" altLang="zh-CN"/>
              <a:t>Rust</a:t>
            </a:r>
            <a:r>
              <a:rPr lang="zh-CN" altLang="en-US"/>
              <a:t>编写函数记住一点；</a:t>
            </a:r>
            <a:endParaRPr lang="zh-CN" altLang="en-US"/>
          </a:p>
          <a:p>
            <a:pPr lvl="1"/>
            <a:r>
              <a:rPr lang="zh-CN" altLang="en-US"/>
              <a:t>作用域（函数）结束，运行栈的数据全部被释放，如果有后面还要用的数据，要么</a:t>
            </a:r>
            <a:r>
              <a:rPr lang="zh-CN" altLang="en-US" b="1"/>
              <a:t>返回（转移所有权）</a:t>
            </a:r>
            <a:r>
              <a:rPr lang="zh-CN" altLang="en-US"/>
              <a:t>，</a:t>
            </a:r>
            <a:r>
              <a:rPr lang="zh-CN" altLang="en-US" b="1"/>
              <a:t>要么提前说明是借用（借别人的就得还）</a:t>
            </a:r>
            <a:r>
              <a:rPr lang="zh-CN" altLang="en-US"/>
              <a:t>；这就是</a:t>
            </a:r>
            <a:r>
              <a:rPr lang="zh-CN" altLang="en-US" b="1"/>
              <a:t>内存管理的精髓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608330" y="5165725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在</a:t>
            </a:r>
            <a:r>
              <a:rPr lang="en-US" altLang="zh-CN"/>
              <a:t>Rust</a:t>
            </a:r>
            <a:r>
              <a:rPr lang="zh-CN" altLang="en-US"/>
              <a:t>中，方法必须明确指定接收实例的方式：</a:t>
            </a:r>
            <a:endParaRPr lang="zh-CN" altLang="en-US"/>
          </a:p>
          <a:p>
            <a:r>
              <a:rPr lang="en-US" altLang="zh-CN"/>
              <a:t>  &amp;a</a:t>
            </a:r>
            <a:r>
              <a:rPr lang="zh-CN" altLang="en-US"/>
              <a:t>：不可变引用</a:t>
            </a:r>
            <a:endParaRPr lang="zh-CN" altLang="en-US"/>
          </a:p>
          <a:p>
            <a:r>
              <a:rPr lang="en-US" altLang="zh-CN"/>
              <a:t>  &amp;mut a</a:t>
            </a:r>
            <a:r>
              <a:rPr lang="zh-CN" altLang="en-US"/>
              <a:t>：可变引用</a:t>
            </a:r>
            <a:endParaRPr lang="zh-CN" altLang="en-US"/>
          </a:p>
          <a:p>
            <a:r>
              <a:rPr lang="en-US" altLang="zh-CN"/>
              <a:t>  a</a:t>
            </a:r>
            <a:r>
              <a:rPr lang="zh-CN" altLang="en-US"/>
              <a:t>：获取所有权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深度思考？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Rust</a:t>
            </a:r>
            <a:r>
              <a:rPr lang="zh-CN" altLang="en-US"/>
              <a:t>会不会产生内存碎片？如果产生如何解决？</a:t>
            </a:r>
            <a:endParaRPr lang="zh-CN" altLang="en-US"/>
          </a:p>
          <a:p>
            <a:pPr lvl="1"/>
            <a:r>
              <a:rPr lang="zh-CN" altLang="en-US"/>
              <a:t>小技巧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520" y="2543175"/>
            <a:ext cx="8056245" cy="18675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TABLE_ENDDRAG_ORIGIN_RECT" val="151*248"/>
  <p:tag name="TABLE_ENDDRAG_RECT" val="144*150*151*248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TABLE_ENDDRAG_ORIGIN_RECT" val="215*267"/>
  <p:tag name="TABLE_ENDDRAG_RECT" val="35*180*215*267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1097</Words>
  <Application>WPS 演示</Application>
  <PresentationFormat>宽屏</PresentationFormat>
  <Paragraphs>155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所有权系统</vt:lpstr>
      <vt:lpstr>垃圾回收的几种方式</vt:lpstr>
      <vt:lpstr>所有权的三个核心规则</vt:lpstr>
      <vt:lpstr>理解stack和heap</vt:lpstr>
      <vt:lpstr>Copy(针对栈内存)和Move(针对堆内存)</vt:lpstr>
      <vt:lpstr>PowerPoint 演示文稿</vt:lpstr>
      <vt:lpstr>所有权与函数</vt:lpstr>
      <vt:lpstr>用返回值转移所有权</vt:lpstr>
      <vt:lpstr>引用与借用</vt:lpstr>
      <vt:lpstr>可变引用</vt:lpstr>
      <vt:lpstr>数据竞争（data race）</vt:lpstr>
      <vt:lpstr>悬垂引用（Dangling References）</vt:lpstr>
      <vt:lpstr>借用核心</vt:lpstr>
      <vt:lpstr>深度思考？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forsum</cp:lastModifiedBy>
  <cp:revision>362</cp:revision>
  <dcterms:created xsi:type="dcterms:W3CDTF">2019-06-19T02:08:00Z</dcterms:created>
  <dcterms:modified xsi:type="dcterms:W3CDTF">2025-04-23T08:13:50Z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6187303282104B019BE47EC5EB061280_11</vt:lpwstr>
  </property>
</Properties>
</file>